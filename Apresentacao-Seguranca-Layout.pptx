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234440"/>
            <a:ext cx="5943600" cy="19347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30368" y="3352085"/>
            <a:ext cx="1737360" cy="381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6405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Segurança e Novo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12205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9FB4C8"/>
                </a:solidFill>
                <a:latin typeface="Calibri"/>
              </a:rPr>
              <a:t>Atualizações da Plataforma — Noszona / Cabo Verde Virtual Resident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8076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D580"/>
                </a:solidFill>
                <a:latin typeface="Calibri"/>
              </a:rPr>
              <a:t>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B942"/>
                </a:solidFill>
                <a:latin typeface="Calibr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86384"/>
            <a:ext cx="502920" cy="381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 que vamos 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08792" cy="73152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57150" cy="731520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57400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Auditoria de Segurança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05740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2E4A"/>
                </a:solidFill>
                <a:latin typeface="Calibri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10908792" cy="73152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57150" cy="731520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1752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017520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Correções Implementadas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301752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2E4A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40"/>
            <a:ext cx="10908792" cy="73152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77640"/>
            <a:ext cx="57150" cy="73152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9776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977640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Novo Layout do 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397764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2E4A"/>
                </a:solidFill>
                <a:latin typeface="Calibri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37760"/>
            <a:ext cx="10908792" cy="73152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937760"/>
            <a:ext cx="57150" cy="73152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93776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937760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493776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2E4A"/>
                </a:solidFill>
                <a:latin typeface="Calibri"/>
              </a:rPr>
              <a:t>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92240"/>
            <a:ext cx="786530" cy="2560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FB4C8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C3E3"/>
                </a:solidFill>
                <a:latin typeface="Calibri"/>
              </a:rPr>
              <a:t>SEGURANÇA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86384"/>
            <a:ext cx="502920" cy="38100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Porquê esta auditoria?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515600" cy="2066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Revisão completa: frontend e backend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Foco nos dados e pagamentos dos residentes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Identificar falhas antes que alguém o faça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10908792" cy="123444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57150" cy="12344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06824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B942"/>
                </a:solidFill>
                <a:latin typeface="Calibri"/>
              </a:rPr>
              <a:t>💡  ANALOGIA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3144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0" i="1">
                <a:solidFill>
                  <a:srgbClr val="F0F5FA"/>
                </a:solidFill>
                <a:latin typeface="Calibri"/>
              </a:rPr>
              <a:t>Uma casa só é segura se TODAS as portas tiverem fechadura — não chega trancar só a porta principal.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92240"/>
            <a:ext cx="786530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FB4C8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C3E3"/>
                </a:solidFill>
                <a:latin typeface="Calibri"/>
              </a:rPr>
              <a:t>SEGURANÇA · DIAGNÓSTICO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86384"/>
            <a:ext cx="502920" cy="38100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 que encontrámos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515600" cy="2066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Falhas catalogadas por grau de risco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Maior risco: dados de residentes sem verificar o dono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Boas práticas já existentes no login admin, confirmadas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9FB4C8"/>
                </a:solidFill>
                <a:latin typeface="Calibri"/>
              </a:rPr>
              <a:t>CLASSIFICAÇÃO DE RISCO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2514600" cy="685800"/>
          </a:xfrm>
          <a:prstGeom prst="roundRect">
            <a:avLst>
              <a:gd name="adj" fmla="val 50000"/>
            </a:avLst>
          </a:prstGeom>
          <a:solidFill>
            <a:srgbClr val="E06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061827"/>
                </a:solidFill>
                <a:latin typeface="Calibri"/>
              </a:rPr>
              <a:t>CRÍTICO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480560"/>
            <a:ext cx="2514600" cy="6858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061827"/>
                </a:solidFill>
                <a:latin typeface="Calibri"/>
              </a:rPr>
              <a:t>ALTO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480560"/>
            <a:ext cx="2514600" cy="685800"/>
          </a:xfrm>
          <a:prstGeom prst="roundRect">
            <a:avLst>
              <a:gd name="adj" fmla="val 50000"/>
            </a:avLst>
          </a:prstGeom>
          <a:solidFill>
            <a:srgbClr val="0A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061827"/>
                </a:solidFill>
                <a:latin typeface="Calibri"/>
              </a:rPr>
              <a:t>MÉDIO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4480560"/>
            <a:ext cx="2514600" cy="685800"/>
          </a:xfrm>
          <a:prstGeom prst="roundRect">
            <a:avLst>
              <a:gd name="adj" fmla="val 50000"/>
            </a:avLst>
          </a:prstGeom>
          <a:solidFill>
            <a:srgbClr val="9F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061827"/>
                </a:solidFill>
                <a:latin typeface="Calibri"/>
              </a:rPr>
              <a:t>BAIXO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92240"/>
            <a:ext cx="786530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FB4C8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C3E3"/>
                </a:solidFill>
                <a:latin typeface="Calibri"/>
              </a:rPr>
              <a:t>CORRIGIDO · CRÍTICO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86384"/>
            <a:ext cx="502920" cy="38100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Autenticação real dos residentes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515600" cy="2066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Fotos de perfil, BI e pagamentos, agora protegidos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A identidade é sempre confirmada pelo servidor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Já não basta indicar um ID para agir em nome de outro residente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43400"/>
            <a:ext cx="10908792" cy="123444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343400"/>
            <a:ext cx="57150" cy="12344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89704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B942"/>
                </a:solidFill>
                <a:latin typeface="Calibri"/>
              </a:rPr>
              <a:t>💡  ANALOGIA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103144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0" i="1">
                <a:solidFill>
                  <a:srgbClr val="F0F5FA"/>
                </a:solidFill>
                <a:latin typeface="Calibri"/>
              </a:rPr>
              <a:t>Antes bastava dizer o número do quarto para entrar. Agora, só a chave certa abre a porta certa.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92240"/>
            <a:ext cx="786530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FB4C8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C3E3"/>
                </a:solidFill>
                <a:latin typeface="Calibri"/>
              </a:rPr>
              <a:t>CORRIGIDO · PAINEL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86384"/>
            <a:ext cx="502920" cy="38100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Proteção contra CSRF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515600" cy="2066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Novo código secreto validado em cada ação do admin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Pedidos vindos de outros sites deixam de funcionar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Login e logout do admin reforçados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43400"/>
            <a:ext cx="10908792" cy="123444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343400"/>
            <a:ext cx="57150" cy="12344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89704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B942"/>
                </a:solidFill>
                <a:latin typeface="Calibri"/>
              </a:rPr>
              <a:t>💡  ANALOGIA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103144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0" i="1">
                <a:solidFill>
                  <a:srgbClr val="F0F5FA"/>
                </a:solidFill>
                <a:latin typeface="Calibri"/>
              </a:rPr>
              <a:t>Como um código que só o site verdadeiro sabe pedir de volta — um site falso nunca o consegue adivinhar.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92240"/>
            <a:ext cx="786530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FB4C8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C3E3"/>
                </a:solidFill>
                <a:latin typeface="Calibri"/>
              </a:rPr>
              <a:t>CORRIGIDO ·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86384"/>
            <a:ext cx="502920" cy="38100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Todas as portas trancadas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515600" cy="1499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Rotas de fotos e pagamentos passam a exigir sessão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00C3E3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Verificação do dono em cada pedido sensível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10908792" cy="123444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57150" cy="12344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66744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B942"/>
                </a:solidFill>
                <a:latin typeface="Calibri"/>
              </a:rPr>
              <a:t>💡  ANALOGIA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77640"/>
            <a:ext cx="103144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0" i="1">
                <a:solidFill>
                  <a:srgbClr val="F0F5FA"/>
                </a:solidFill>
                <a:latin typeface="Calibri"/>
              </a:rPr>
              <a:t>Encontrámos portas que deviam estar fechadas mas ficaram destrancadas por engano. Agora estão todas trancadas.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92240"/>
            <a:ext cx="786530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FB4C8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C3E3"/>
                </a:solidFill>
                <a:latin typeface="Calibri"/>
              </a:rPr>
              <a:t>SEGURANÇA · RESUMO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86384"/>
            <a:ext cx="502920" cy="38100"/>
          </a:xfrm>
          <a:prstGeom prst="rect">
            <a:avLst/>
          </a:prstGeom>
          <a:solidFill>
            <a:srgbClr val="00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Antes vs. Depois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212080" cy="548640"/>
          </a:xfrm>
          <a:prstGeom prst="rect">
            <a:avLst/>
          </a:prstGeom>
          <a:solidFill>
            <a:srgbClr val="E06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5212080" cy="3749039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4572000" cy="269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4470"/>
              </a:spcAft>
            </a:pPr>
            <a:r>
              <a:rPr sz="1650" b="1">
                <a:solidFill>
                  <a:srgbClr val="E06363"/>
                </a:solidFill>
                <a:latin typeface="Calibri"/>
              </a:rPr>
              <a:t>✕  </a:t>
            </a:r>
            <a:r>
              <a:rPr sz="1650">
                <a:solidFill>
                  <a:srgbClr val="F0F5FA"/>
                </a:solidFill>
                <a:latin typeface="Calibri"/>
              </a:rPr>
              <a:t>ID do residente vinha do pedido do cliente</a:t>
            </a:r>
          </a:p>
          <a:p>
            <a:pPr>
              <a:lnSpc>
                <a:spcPct val="105000"/>
              </a:lnSpc>
              <a:spcAft>
                <a:spcPts val="4470"/>
              </a:spcAft>
            </a:pPr>
            <a:r>
              <a:rPr sz="1650" b="1">
                <a:solidFill>
                  <a:srgbClr val="E06363"/>
                </a:solidFill>
                <a:latin typeface="Calibri"/>
              </a:rPr>
              <a:t>✕  </a:t>
            </a:r>
            <a:r>
              <a:rPr sz="1650">
                <a:solidFill>
                  <a:srgbClr val="F0F5FA"/>
                </a:solidFill>
                <a:latin typeface="Calibri"/>
              </a:rPr>
              <a:t>Fotos e pagamentos sem verificar sessão</a:t>
            </a:r>
          </a:p>
          <a:p>
            <a:pPr>
              <a:lnSpc>
                <a:spcPct val="105000"/>
              </a:lnSpc>
              <a:spcAft>
                <a:spcPts val="4470"/>
              </a:spcAft>
            </a:pPr>
            <a:r>
              <a:rPr sz="1650" b="1">
                <a:solidFill>
                  <a:srgbClr val="E06363"/>
                </a:solidFill>
                <a:latin typeface="Calibri"/>
              </a:rPr>
              <a:t>✕  </a:t>
            </a:r>
            <a:r>
              <a:rPr sz="1650">
                <a:solidFill>
                  <a:srgbClr val="F0F5FA"/>
                </a:solidFill>
                <a:latin typeface="Calibri"/>
              </a:rPr>
              <a:t>Sem proteção CSRF no 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965960"/>
            <a:ext cx="5212080" cy="548640"/>
          </a:xfrm>
          <a:prstGeom prst="rect">
            <a:avLst/>
          </a:prstGeom>
          <a:solidFill>
            <a:srgbClr val="0EA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965960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DEPOIS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2514600"/>
            <a:ext cx="5212080" cy="3749039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834640"/>
            <a:ext cx="4572000" cy="269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4470"/>
              </a:spcAft>
            </a:pPr>
            <a:r>
              <a:rPr sz="1650" b="1">
                <a:solidFill>
                  <a:srgbClr val="0EA472"/>
                </a:solidFill>
                <a:latin typeface="Calibri"/>
              </a:rPr>
              <a:t>✓  </a:t>
            </a:r>
            <a:r>
              <a:rPr sz="1650">
                <a:solidFill>
                  <a:srgbClr val="F0F5FA"/>
                </a:solidFill>
                <a:latin typeface="Calibri"/>
              </a:rPr>
              <a:t>ID sempre validado por token no servidor</a:t>
            </a:r>
          </a:p>
          <a:p>
            <a:pPr>
              <a:lnSpc>
                <a:spcPct val="105000"/>
              </a:lnSpc>
              <a:spcAft>
                <a:spcPts val="4470"/>
              </a:spcAft>
            </a:pPr>
            <a:r>
              <a:rPr sz="1650" b="1">
                <a:solidFill>
                  <a:srgbClr val="0EA472"/>
                </a:solidFill>
                <a:latin typeface="Calibri"/>
              </a:rPr>
              <a:t>✓  </a:t>
            </a:r>
            <a:r>
              <a:rPr sz="1650">
                <a:solidFill>
                  <a:srgbClr val="F0F5FA"/>
                </a:solidFill>
                <a:latin typeface="Calibri"/>
              </a:rPr>
              <a:t>Sessão obrigatória em toda ação sensível</a:t>
            </a:r>
          </a:p>
          <a:p>
            <a:pPr>
              <a:lnSpc>
                <a:spcPct val="105000"/>
              </a:lnSpc>
              <a:spcAft>
                <a:spcPts val="4470"/>
              </a:spcAft>
            </a:pPr>
            <a:r>
              <a:rPr sz="1650" b="1">
                <a:solidFill>
                  <a:srgbClr val="0EA472"/>
                </a:solidFill>
                <a:latin typeface="Calibri"/>
              </a:rPr>
              <a:t>✓  </a:t>
            </a:r>
            <a:r>
              <a:rPr sz="1650">
                <a:solidFill>
                  <a:srgbClr val="F0F5FA"/>
                </a:solidFill>
                <a:latin typeface="Calibri"/>
              </a:rPr>
              <a:t>Token CSRF em cada pedido de escrita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92240"/>
            <a:ext cx="786530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FB4C8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B942"/>
                </a:solidFill>
                <a:latin typeface="Calibri"/>
              </a:rPr>
              <a:t>LAYOUT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86384"/>
            <a:ext cx="502920" cy="381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Novo Painel Administrativo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515600" cy="2066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F4B942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Receita mensal real, e não apenas contagem de registos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F4B942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Nova visualização animada por tipo de residente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F4B942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Novo ecrã de carregamento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10908792" cy="123444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57150" cy="1234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06824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B8A6"/>
                </a:solidFill>
                <a:latin typeface="Calibri"/>
              </a:rPr>
              <a:t>💡  ANALOGIA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3144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0" i="1">
                <a:solidFill>
                  <a:srgbClr val="F0F5FA"/>
                </a:solidFill>
                <a:latin typeface="Calibri"/>
              </a:rPr>
              <a:t>De uma tabela de números para um painel que conta a história do negócio à primeira vista.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92240"/>
            <a:ext cx="786530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FB4C8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B942"/>
                </a:solidFill>
                <a:latin typeface="Calibri"/>
              </a:rPr>
              <a:t>LAYOUT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86384"/>
            <a:ext cx="502920" cy="381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Site 100% Responsivo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515600" cy="20665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F4B942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Layout adaptado a telemóveis e tablets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F4B942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Recarga e QR otimizados para ecrã pequeno</a:t>
            </a:r>
          </a:p>
          <a:p>
            <a:pPr>
              <a:lnSpc>
                <a:spcPct val="105000"/>
              </a:lnSpc>
              <a:spcAft>
                <a:spcPts val="2564"/>
              </a:spcAft>
            </a:pPr>
            <a:r>
              <a:rPr sz="1900" b="1">
                <a:solidFill>
                  <a:srgbClr val="F4B942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Experiência igual em qualquer dispositivo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10908792" cy="123444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57150" cy="1234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06824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4B8A6"/>
                </a:solidFill>
                <a:latin typeface="Calibri"/>
              </a:rPr>
              <a:t>💡  ANALOGIA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3144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0" i="1">
                <a:solidFill>
                  <a:srgbClr val="F0F5FA"/>
                </a:solidFill>
                <a:latin typeface="Calibri"/>
              </a:rPr>
              <a:t>Como água — o design adapta-se à forma do dispositivo: telemóvel, tablet ou computador.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92240"/>
            <a:ext cx="786530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FB4C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B8A6"/>
                </a:solidFill>
                <a:latin typeface="Calibri"/>
              </a:rPr>
              <a:t>PRÓXIMOS PASSOS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86384"/>
            <a:ext cx="50292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 que vem a seguir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515600" cy="2852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2996"/>
              </a:spcAft>
            </a:pPr>
            <a:r>
              <a:rPr sz="1900" b="1">
                <a:solidFill>
                  <a:srgbClr val="14B8A6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Limite de tentativas no login de residentes</a:t>
            </a:r>
          </a:p>
          <a:p>
            <a:pPr>
              <a:lnSpc>
                <a:spcPct val="105000"/>
              </a:lnSpc>
              <a:spcAft>
                <a:spcPts val="2996"/>
              </a:spcAft>
            </a:pPr>
            <a:r>
              <a:rPr sz="1900" b="1">
                <a:solidFill>
                  <a:srgbClr val="14B8A6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Migrar passwords antigas para encriptação segura</a:t>
            </a:r>
          </a:p>
          <a:p>
            <a:pPr>
              <a:lnSpc>
                <a:spcPct val="105000"/>
              </a:lnSpc>
              <a:spcAft>
                <a:spcPts val="2996"/>
              </a:spcAft>
            </a:pPr>
            <a:r>
              <a:rPr sz="1900" b="1">
                <a:solidFill>
                  <a:srgbClr val="14B8A6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Restringir acessos externos (CORS) em produção</a:t>
            </a:r>
          </a:p>
          <a:p>
            <a:pPr>
              <a:lnSpc>
                <a:spcPct val="105000"/>
              </a:lnSpc>
              <a:spcAft>
                <a:spcPts val="2996"/>
              </a:spcAft>
            </a:pPr>
            <a:r>
              <a:rPr sz="1900" b="1">
                <a:solidFill>
                  <a:srgbClr val="14B8A6"/>
                </a:solidFill>
                <a:latin typeface="Calibri"/>
              </a:rPr>
              <a:t>■  </a:t>
            </a:r>
            <a:r>
              <a:rPr sz="1900">
                <a:solidFill>
                  <a:srgbClr val="F0F5FA"/>
                </a:solidFill>
                <a:latin typeface="Calibri"/>
              </a:rPr>
              <a:t>Reforçar ligação segura no envio de emails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03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92240"/>
            <a:ext cx="786530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FB4C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noFill/>
          <a:ln w="12700">
            <a:solidFill>
              <a:srgbClr val="1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554480"/>
            <a:ext cx="3657600" cy="3657600"/>
          </a:xfrm>
          <a:prstGeom prst="ellipse">
            <a:avLst/>
          </a:prstGeom>
          <a:noFill/>
          <a:ln w="12700">
            <a:solidFill>
              <a:srgbClr val="0B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V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1691640"/>
            <a:ext cx="4114800" cy="13394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41848" y="3259693"/>
            <a:ext cx="914400" cy="381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34013"/>
            <a:ext cx="103601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9813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FB4C8"/>
                </a:solidFill>
                <a:latin typeface="Calibri"/>
              </a:rP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